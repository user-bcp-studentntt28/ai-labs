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73152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Segoe UI"/>
              </a:rPr>
              <a:t>Conciliación de operaciones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9D3E3"/>
                </a:solidFill>
                <a:latin typeface="Segoe UI"/>
              </a:rPr>
              <a:t>Peru Wallet MVP · Construido con SDD 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3E3"/>
                </a:solidFill>
                <a:latin typeface="Segoe UI"/>
              </a:rPr>
              <a:t>GRUPO 3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C9D3E3"/>
                </a:solidFill>
                <a:latin typeface="Segoe UI"/>
              </a:rPr>
              <a:t>Reto de conciliación · Historias #30 a #34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El problema: ¿cuadran las operaciones?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678"/>
                </a:solidFill>
                <a:latin typeface="Segoe UI"/>
              </a:rPr>
              <a:t>Cada pago pasa por tres lugares. Si no coinciden, hay dinero sin explicar.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2468880" cy="1188720"/>
          </a:xfrm>
          <a:prstGeom prst="round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Wallet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Segoe UI"/>
              </a:rPr>
              <a:t>lo que pagó el usuario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53512" y="2240280"/>
            <a:ext cx="402336" cy="274320"/>
          </a:xfrm>
          <a:prstGeom prst="rightArrow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83280" y="1783080"/>
            <a:ext cx="2468880" cy="1188720"/>
          </a:xfrm>
          <a:prstGeom prst="round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Proveedor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Segoe UI"/>
              </a:rPr>
              <a:t>lo que reporta el proveedor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79592" y="2240280"/>
            <a:ext cx="402336" cy="274320"/>
          </a:xfrm>
          <a:prstGeom prst="rightArrow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2468880" cy="1188720"/>
          </a:xfrm>
          <a:prstGeom prst="round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Ledger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Segoe UI"/>
              </a:rPr>
              <a:t>lo que registra contabilidad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05672" y="2240280"/>
            <a:ext cx="402336" cy="274320"/>
          </a:xfrm>
          <a:prstGeom prst="rightArrow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35440" y="1783080"/>
            <a:ext cx="2468880" cy="118872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Conciliación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Segoe UI"/>
              </a:rPr>
              <a:t>compara los tres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3291840"/>
          <a:ext cx="1124711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955279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Qué puede pasar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Ejemplo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Segoe UI"/>
                        </a:rPr>
                        <a:t>Importe distinto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Segoe UI"/>
                        </a:rPr>
                        <a:t>El usuario pagó S/ 15,00 y el proveedor reporta S/ 16,00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Segoe UI"/>
                        </a:rPr>
                        <a:t>Pago que falta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Segoe UI"/>
                        </a:rPr>
                        <a:t>Está en el wallet pero el proveedor no lo reporta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Segoe UI"/>
                        </a:rPr>
                        <a:t>Pago duplicado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Segoe UI"/>
                        </a:rPr>
                        <a:t>El proveedor lo reporta dos veces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Segoe UI"/>
                        </a:rPr>
                        <a:t>Pago desconocido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Segoe UI"/>
                        </a:rPr>
                        <a:t>El proveedor reporta un pago que el wallet no tiene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Segoe UI"/>
                        </a:rPr>
                        <a:t>Saldo que no cuadra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Segoe UI"/>
                        </a:rPr>
                        <a:t>El saldo de la wallet no coincide con el registro contable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7A1A"/>
                </a:solidFill>
                <a:latin typeface="Segoe UI"/>
              </a:rPr>
              <a:t>Hoy el analista cruza las fuentes a mano y no hay un flujo claro para atender cada diferencia.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Objetivo: el proceso de conciliación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2194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73152" cy="219456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Segoe UI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1952"/>
            <a:ext cx="52120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678"/>
                </a:solidFill>
                <a:latin typeface="Segoe UI"/>
              </a:rPr>
              <a:t>Habilitar el proceso de conciliación del MVP: detectar a tiempo los descalces entre wallet, proveedor y ledger y darles seguimiento, para mantener la integridad financiera.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2194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73152" cy="219456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44752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Segoe UI"/>
              </a:rPr>
              <a:t>Lo que se hizo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01952"/>
            <a:ext cx="52120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678"/>
                </a:solidFill>
                <a:latin typeface="Segoe UI"/>
              </a:rPr>
              <a:t>El proceso completo en una aplicación web, con una demo HTML como idea base.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5B6678"/>
                </a:solidFill>
                <a:latin typeface="Segoe UI"/>
              </a:rPr>
              <a:t>Un agente de IA que prepara el mensaje para el supervisor.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5B6678"/>
                </a:solidFill>
                <a:latin typeface="Segoe UI"/>
              </a:rPr>
              <a:t>6 historias de usuario, cada una con su spec.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3749039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22960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El equipo puede…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Resultado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Consultar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Ver los datos de pagos, proveedor, contabilidad e incidencias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Conciliar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Ejecutar la comparación y ver si hay diferencias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Revisar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Buscar una operación y ver qué fuente falla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Atender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El analista inicia la atención y responde; el supervisor aprueba o devuelve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Decidir con apoyo de IA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Un agente resume el problema para que el supervisor decida más rápido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Probar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Provocar diferencias para comprobar que se detectan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¿Cómo? Spec-Driven Development (SDD)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678"/>
                </a:solidFill>
                <a:latin typeface="Segoe UI"/>
              </a:rPr>
              <a:t>Primero se escribe y acuerda qué se va a construir; después se programa y se prueba.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1691640" cy="118872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Historia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Segoe UI"/>
              </a:rPr>
              <a:t>necesidad del usuario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76272" y="2240280"/>
            <a:ext cx="164592" cy="274320"/>
          </a:xfrm>
          <a:prstGeom prst="rightArrow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68296" y="1783080"/>
            <a:ext cx="1691640" cy="118872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Spec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Segoe UI"/>
              </a:rPr>
              <a:t>qué debe cumplir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87368" y="2240280"/>
            <a:ext cx="164592" cy="274320"/>
          </a:xfrm>
          <a:prstGeom prst="rightArrow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79392" y="1783080"/>
            <a:ext cx="1691640" cy="118872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Diseño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Segoe UI"/>
              </a:rPr>
              <a:t>cómo se resuelve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98464" y="2240280"/>
            <a:ext cx="164592" cy="274320"/>
          </a:xfrm>
          <a:prstGeom prst="rightArrow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90488" y="1783080"/>
            <a:ext cx="1691640" cy="118872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Tareas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Segoe UI"/>
              </a:rPr>
              <a:t>lista de pasos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909559" y="2240280"/>
            <a:ext cx="164592" cy="274320"/>
          </a:xfrm>
          <a:prstGeom prst="rightArrow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01583" y="1783080"/>
            <a:ext cx="1691640" cy="118872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Código + pruebas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Segoe UI"/>
              </a:rPr>
              <a:t>se construye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820655" y="2240280"/>
            <a:ext cx="164592" cy="274320"/>
          </a:xfrm>
          <a:prstGeom prst="rightArrow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12680" y="1783080"/>
            <a:ext cx="1691640" cy="1188720"/>
          </a:xfrm>
          <a:prstGeom prst="round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Validación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Segoe UI"/>
              </a:rPr>
              <a:t>se comprueba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3657600" cy="29260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91840"/>
            <a:ext cx="73152" cy="292608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364992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Segoe UI"/>
              </a:rPr>
              <a:t>Qué ganamos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22191"/>
            <a:ext cx="338328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678"/>
                </a:solidFill>
                <a:latin typeface="Segoe UI"/>
              </a:rPr>
              <a:t>Alcance claro antes de programar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5B6678"/>
                </a:solidFill>
                <a:latin typeface="Segoe UI"/>
              </a:rPr>
              <a:t>Cada cambio se rastrea hasta su historia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5B6678"/>
                </a:solidFill>
                <a:latin typeface="Segoe UI"/>
              </a:rPr>
              <a:t>Menos retrabajo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3291840"/>
            <a:ext cx="3657600" cy="29260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291840"/>
            <a:ext cx="73152" cy="292608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364992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Segoe UI"/>
              </a:rPr>
              <a:t>Calidad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822191"/>
            <a:ext cx="338328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678"/>
                </a:solidFill>
                <a:latin typeface="Segoe UI"/>
              </a:rPr>
              <a:t>Pruebas antes de cambios grandes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5B6678"/>
                </a:solidFill>
                <a:latin typeface="Segoe UI"/>
              </a:rPr>
              <a:t>Cobertura mínima del 85 %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5B6678"/>
                </a:solidFill>
                <a:latin typeface="Segoe UI"/>
              </a:rPr>
              <a:t>Sin datos reales ni claves en el código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3291840"/>
            <a:ext cx="3657600" cy="29260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291840"/>
            <a:ext cx="73152" cy="292608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364992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Segoe UI"/>
              </a:rPr>
              <a:t>Control humano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822191"/>
            <a:ext cx="338328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678"/>
                </a:solidFill>
                <a:latin typeface="Segoe UI"/>
              </a:rPr>
              <a:t>Las 6 specs se validaron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5B6678"/>
                </a:solidFill>
                <a:latin typeface="Segoe UI"/>
              </a:rPr>
              <a:t>La IA no sustituye la revisión humana del PR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5B6678"/>
                </a:solidFill>
                <a:latin typeface="Segoe UI"/>
              </a:rPr>
              <a:t>El supervisor siempre decide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Historias de usuario y tareas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678"/>
                </a:solidFill>
                <a:latin typeface="Segoe UI"/>
              </a:rPr>
              <a:t>Seis historias y 131 tareas; 126 completadas.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3736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822960"/>
                <a:gridCol w="5212080"/>
                <a:gridCol w="173736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Historia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Issue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Qué entrega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Tareas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HU-CONC-01 Consultar fuentes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#33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Carga y actualización de los datos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22 / 23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HU-CONC-02 Ejecutar conciliación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#31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Comparar y ver el resultado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21 / 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HU-CONC-03 Revisar operaciones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#32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Búsqueda, filtros y detalle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20 / 21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HU-CONC-04 Seguimiento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#34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Atención del analista y cierre del supervisor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24 / 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HU-CONC-05 Escenarios de prueba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#30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Provocar diferencias de forma controlada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19 / 20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HU-CONC-06 Agente supervisor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nueva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Mensaje de IA que reduce la fatiga del supervisor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20 / 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126 / 131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577840"/>
            <a:ext cx="11247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678"/>
                </a:solidFill>
                <a:latin typeface="Segoe UI"/>
              </a:rPr>
              <a:t>Las 5 tareas pendientes: 4 eran comparar con la demo original (se documentó que no se hicieron) y 1 es el recorrido completo en el navegador con el agente.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Flujo MVP de punta a punta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678"/>
                </a:solidFill>
                <a:latin typeface="Segoe UI"/>
              </a:rPr>
              <a:t>De la carga de datos a la decisión del supervisor.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1691640" cy="1280160"/>
          </a:xfrm>
          <a:prstGeom prst="round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1 · Cargar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Segoe UI"/>
              </a:rPr>
              <a:t>datos de la wallet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76272" y="2148840"/>
            <a:ext cx="164592" cy="274320"/>
          </a:xfrm>
          <a:prstGeom prst="rightArrow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68296" y="1645920"/>
            <a:ext cx="1691640" cy="1280160"/>
          </a:xfrm>
          <a:prstGeom prst="round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2 · Conciliar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Segoe UI"/>
              </a:rPr>
              <a:t>cuenta diferencias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87368" y="2148840"/>
            <a:ext cx="164592" cy="274320"/>
          </a:xfrm>
          <a:prstGeom prst="rightArrow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79392" y="1645920"/>
            <a:ext cx="1691640" cy="1280160"/>
          </a:xfrm>
          <a:prstGeom prst="round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3 · Revisar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Segoe UI"/>
              </a:rPr>
              <a:t>abre la operación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98464" y="2148840"/>
            <a:ext cx="164592" cy="274320"/>
          </a:xfrm>
          <a:prstGeom prst="rightArrow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90488" y="1645920"/>
            <a:ext cx="1691640" cy="1280160"/>
          </a:xfrm>
          <a:prstGeom prst="round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4 · Analista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Segoe UI"/>
              </a:rPr>
              <a:t>inicia y responde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909559" y="2148840"/>
            <a:ext cx="164592" cy="274320"/>
          </a:xfrm>
          <a:prstGeom prst="rightArrow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01583" y="1645920"/>
            <a:ext cx="169164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5 · Agente IA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Segoe UI"/>
              </a:rPr>
              <a:t>lee y deja mensaje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820655" y="2148840"/>
            <a:ext cx="164592" cy="274320"/>
          </a:xfrm>
          <a:prstGeom prst="rightArrow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12680" y="1645920"/>
            <a:ext cx="1691640" cy="1280160"/>
          </a:xfrm>
          <a:prstGeom prst="round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6 · Supervisor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Segoe UI"/>
              </a:rPr>
              <a:t>lee y decide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20040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24128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Paso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Qué pasa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Se ven los datos de pagos, proveedor, contabilidad e incidencias, con la hora de carga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Resultado «sin diferencias» o «con diferencias» y cuántas son (en la demo: 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Por operación: qué dicen el wallet, el proveedor y la contabilidad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El analista inicia la atención y, al terminar, escribe su respuesta (obligatoria) y la envía a revisión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Con cada cambio de estado, el agente lee los pagos y deja un mensaje breve sobre el problema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El supervisor lee el mensaje, aprueba o devuelve con nota; el API no cambia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7A1A"/>
                </a:solidFill>
                <a:latin typeface="Segoe UI"/>
              </a:rPr>
              <a:t>La aplicación detecta y ordena el trabajo; no mueve fondos ni corrige saldos.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El agente supervisor: menos fatiga al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678"/>
                </a:solidFill>
                <a:latin typeface="Segoe UI"/>
              </a:rPr>
              <a:t>Antes el supervisor reconstruía cada caso a mano; ahora recibe un resumen listo.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1488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73152" cy="214884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Segoe UI"/>
              </a:rPr>
              <a:t>Qué hace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67712"/>
            <a:ext cx="5212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678"/>
                </a:solidFill>
                <a:latin typeface="Segoe UI"/>
              </a:rPr>
              <a:t>Se activa solo cuando el analista inicia la atención o envía a revisión.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5B6678"/>
                </a:solidFill>
                <a:latin typeface="Segoe UI"/>
              </a:rPr>
              <a:t>Lee los pagos, el reporte del proveedor y la contabilidad del caso.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5B6678"/>
                </a:solidFill>
                <a:latin typeface="Segoe UI"/>
              </a:rPr>
              <a:t>Deja un mensaje y, al enviar a revisión, contrasta la respuesta del analista con los datos.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5486400" cy="21488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73152" cy="214884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10512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Segoe UI"/>
              </a:rPr>
              <a:t>Qué contiene el mensaje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67712"/>
            <a:ext cx="5212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678"/>
                </a:solidFill>
                <a:latin typeface="Segoe UI"/>
              </a:rPr>
              <a:t>Prioridad y titular del problema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5B6678"/>
                </a:solidFill>
                <a:latin typeface="Segoe UI"/>
              </a:rPr>
              <a:t>Explicación en lenguaje de negocio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5B6678"/>
                </a:solidFill>
                <a:latin typeface="Segoe UI"/>
              </a:rPr>
              <a:t>Evidencia: lo que dicen wallet, proveedor y ledger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5B6678"/>
                </a:solidFill>
                <a:latin typeface="Segoe UI"/>
              </a:rPr>
              <a:t>Qué debe decidir el supervisor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11247120" cy="14630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73152" cy="14630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Segoe UI"/>
              </a:rPr>
              <a:t>Ejemplo real de la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2628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678"/>
                </a:solidFill>
                <a:latin typeface="Segoe UI"/>
              </a:rPr>
              <a:t>«Pago con diferencia: la wallet registra S/ 3.25 y el proveedor S/ 9.99 (diferencia S/ 6.74). El analista dice que corrigió el monto, pero los datos siguen sin coincidir: pide la confirmación del proveedor antes de aprobar.»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6072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7A1A"/>
                </a:solidFill>
                <a:latin typeface="Segoe UI"/>
              </a:rPr>
              <a:t>Usa Claude Sonnet 5.5 con la cuenta de GitHub del equipo. Si la IA no está disponible, el mensaje se genera sin IA y así se indica; el flujo nunca se bloquea.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Agentes de IA utilizados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70408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Agente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Qué aporta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PM-PO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Convierte necesidades en historias y criterios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Architect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Analiza el impacto y define límites del cambio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Discovery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Investiga el sistema existente y reporta hallazgos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OpenSpec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Prepara, valida y archiva las specs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Developer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Implementa cada historia con pruebas y trazabilidad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Agente supervisor (en el producto)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Resume cada caso para el supervisor (Claude Sonnet 5.5)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75488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704088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Herramienta</a:t>
                      </a:r>
                    </a:p>
                  </a:txBody>
                  <a:tcPr anchor="ctr">
                    <a:solidFill>
                      <a:srgbClr val="2D6C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Uso</a:t>
                      </a:r>
                    </a:p>
                  </a:txBody>
                  <a:tcPr anchor="ctr">
                    <a:solidFill>
                      <a:srgbClr val="2D6CD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Copilot en VS Code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Diseño, código y pruebas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CrewAI + SDK de GitHub Copilot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Orquesta el agente supervisor y accede al modelo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OpenSpec y GitHub Issues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A"/>
                          </a:solidFill>
                          <a:latin typeface="Segoe UI"/>
                        </a:rPr>
                        <a:t>Specs, tareas y alcance (#30 a #34)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Resultados y alcance del MVP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651760" cy="2194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651760" cy="73152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651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1E9E6A"/>
                </a:solidFill>
                <a:latin typeface="Segoe UI"/>
              </a:rPr>
              <a:t>267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B6678"/>
                </a:solidFill>
                <a:latin typeface="Segoe UI"/>
              </a:rPr>
              <a:t>pruebas automáticas pasan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554480"/>
            <a:ext cx="2651760" cy="2194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554480"/>
            <a:ext cx="2651760" cy="73152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828800"/>
            <a:ext cx="2651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1E9E6A"/>
                </a:solidFill>
                <a:latin typeface="Segoe UI"/>
              </a:rPr>
              <a:t>98 – 99 %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83464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B6678"/>
                </a:solidFill>
                <a:latin typeface="Segoe UI"/>
              </a:rPr>
              <a:t>cobertura del código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554480"/>
            <a:ext cx="2651760" cy="2194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554480"/>
            <a:ext cx="2651760" cy="7315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828800"/>
            <a:ext cx="2651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2D6CDF"/>
                </a:solidFill>
                <a:latin typeface="Segoe UI"/>
              </a:rPr>
              <a:t>6 /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83464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B6678"/>
                </a:solidFill>
                <a:latin typeface="Segoe UI"/>
              </a:rPr>
              <a:t>historias entregadas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554480"/>
            <a:ext cx="2651760" cy="2194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1554480"/>
            <a:ext cx="2651760" cy="73152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1828800"/>
            <a:ext cx="2651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FF7A1A"/>
                </a:solidFill>
                <a:latin typeface="Segoe UI"/>
              </a:rPr>
              <a:t>126 / 131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83464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B6678"/>
                </a:solidFill>
                <a:latin typeface="Segoe UI"/>
              </a:rPr>
              <a:t>tareas completadas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5486400" cy="2194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73152" cy="219456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187952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Segoe UI"/>
              </a:rPr>
              <a:t>Dentro del MVP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45152"/>
            <a:ext cx="52120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678"/>
                </a:solidFill>
                <a:latin typeface="Segoe UI"/>
              </a:rPr>
              <a:t>Consultar, conciliar y revisar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5B6678"/>
                </a:solidFill>
                <a:latin typeface="Segoe UI"/>
              </a:rPr>
              <a:t>Seguimiento con roles Analista y Supervisor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5B6678"/>
                </a:solidFill>
                <a:latin typeface="Segoe UI"/>
              </a:rPr>
              <a:t>Mensaje de IA para el supervisor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5B6678"/>
                </a:solidFill>
                <a:latin typeface="Segoe UI"/>
              </a:rPr>
              <a:t>Escenarios de prueba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114800"/>
            <a:ext cx="5486400" cy="2194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114800"/>
            <a:ext cx="73152" cy="219456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187952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Segoe UI"/>
              </a:rPr>
              <a:t>Simulado o de apoyo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645152"/>
            <a:ext cx="52120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678"/>
                </a:solidFill>
                <a:latin typeface="Segoe UI"/>
              </a:rPr>
              <a:t>El proveedor de pagos y sus datos son ficticios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5B6678"/>
                </a:solidFill>
                <a:latin typeface="Segoe UI"/>
              </a:rPr>
              <a:t>El seguimiento solo vive en el navegador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5B6678"/>
                </a:solidFill>
                <a:latin typeface="Segoe UI"/>
              </a:rPr>
              <a:t>El mensaje de IA apoya; el supervisor decide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Siguientes pasos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73152" cy="48463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Segoe UI"/>
              </a:rPr>
              <a:t>Para llevarlo más lejos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1952"/>
            <a:ext cx="5212080" cy="4251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B6678"/>
                </a:solidFill>
                <a:latin typeface="Segoe UI"/>
              </a:rPr>
              <a:t>Ensayar el recorrido completo en el navegador con el equipo.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B6678"/>
                </a:solidFill>
                <a:latin typeface="Segoe UI"/>
              </a:rPr>
              <a:t>Guardar seguimiento y mensajes en un sistema compartido, para que el supervisor los vea desde su equipo.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B6678"/>
                </a:solidFill>
                <a:latin typeface="Segoe UI"/>
              </a:rPr>
              <a:t>Crear wallets y pagos desde la aplicación.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73152" cy="484632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44752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Segoe UI"/>
              </a:rPr>
              <a:t>Lo que mostramos hoy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01952"/>
            <a:ext cx="5212080" cy="4251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B6678"/>
                </a:solidFill>
                <a:latin typeface="Segoe UI"/>
              </a:rPr>
              <a:t>El problema y su impacto en operaciones.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B6678"/>
                </a:solidFill>
                <a:latin typeface="Segoe UI"/>
              </a:rPr>
              <a:t>Un flujo MVP completo, de la carga a la decisión del supervisor.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B6678"/>
                </a:solidFill>
                <a:latin typeface="Segoe UI"/>
              </a:rPr>
              <a:t>Un agente de IA que reduce la fatiga del supervisor.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B6678"/>
                </a:solidFill>
                <a:latin typeface="Segoe UI"/>
              </a:rPr>
              <a:t>Un método con specs, pruebas y revisión humana.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